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Gelasio" panose="020B0604020202020204" charset="0"/>
      <p:regular r:id="rId17"/>
    </p:embeddedFont>
    <p:embeddedFont>
      <p:font typeface="Gelasio Bold" panose="020B0604020202020204" charset="0"/>
      <p:regular r:id="rId18"/>
    </p:embeddedFont>
    <p:embeddedFont>
      <p:font typeface="Gelasio Semi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8560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EE8D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742752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 AI-Based Used Car Price Prediction System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207518"/>
            <a:ext cx="6296860" cy="390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Using Natural Language Processing and Machine Learning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Team: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2510030276 – Srija 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2510030256 – Navya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2510030068 – Kiran 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2510030140 – Anirudh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Supervisor: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Subhranginee Das  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  </a:t>
            </a: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Department: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Computer Science &amp; Engineering  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  </a:t>
            </a: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Academic Year:</a:t>
            </a: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2026–2027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EE8D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0650" y="475456"/>
            <a:ext cx="4430205" cy="59070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365845"/>
            <a:ext cx="6296860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Problem Statement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661475" y="2074565"/>
            <a:ext cx="297549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Structured Vehicle Factors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61475" y="2402284"/>
            <a:ext cx="2975496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Used-car prices depend on multiple measurable attributes: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61475" y="2894806"/>
            <a:ext cx="2975496" cy="905371"/>
          </a:xfrm>
          <a:prstGeom prst="rect">
            <a:avLst/>
          </a:prstGeom>
          <a:noFill/>
          <a:ln/>
        </p:spPr>
        <p:txBody>
          <a:bodyPr wrap="square" lIns="0" tIns="56706" rIns="0" bIns="0" rtlCol="0" anchor="t">
            <a:normAutofit/>
          </a:bodyPr>
          <a:lstStyle/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Vehicle age &amp; mileage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Engine capacity &amp; max power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Fuel type &amp; transmission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Brand, model &amp; seats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989188" y="2074565"/>
            <a:ext cx="297549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Unstructured Text Signals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989188" y="2402284"/>
            <a:ext cx="2975496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Seller descriptions may contain valuable information often ignored by traditional models: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989188" y="3093244"/>
            <a:ext cx="2975496" cy="905371"/>
          </a:xfrm>
          <a:prstGeom prst="rect">
            <a:avLst/>
          </a:prstGeom>
          <a:noFill/>
          <a:ln/>
        </p:spPr>
        <p:txBody>
          <a:bodyPr wrap="square" lIns="0" tIns="56706" rIns="0" bIns="0" rtlCol="0" anchor="t">
            <a:normAutofit/>
          </a:bodyPr>
          <a:lstStyle/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Vehicle condition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Ownership history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Maintenance records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Service information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89188" y="4118173"/>
            <a:ext cx="2975496" cy="1254323"/>
          </a:xfrm>
          <a:prstGeom prst="roundRect">
            <a:avLst>
              <a:gd name="adj" fmla="val 1695"/>
            </a:avLst>
          </a:prstGeom>
          <a:solidFill>
            <a:srgbClr val="ECE6D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0869" y="4275534"/>
            <a:ext cx="177200" cy="1416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49750" y="4249241"/>
            <a:ext cx="2373253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Problem:</a:t>
            </a:r>
            <a:r>
              <a:rPr lang="en-US" sz="11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Develop an ML-based system that combines structured vehicle data with NLP-extracted seller description features to predict used-car selling prices.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80306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Motivation for NLP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532097" y="1997373"/>
            <a:ext cx="4908626" cy="2135584"/>
          </a:xfrm>
          <a:prstGeom prst="roundRect">
            <a:avLst>
              <a:gd name="adj" fmla="val 1261"/>
            </a:avLst>
          </a:prstGeom>
          <a:solidFill>
            <a:srgbClr val="D3C5B6"/>
          </a:solidFill>
          <a:ln/>
        </p:spPr>
      </p:sp>
      <p:sp>
        <p:nvSpPr>
          <p:cNvPr id="4" name="Text 2"/>
          <p:cNvSpPr/>
          <p:nvPr/>
        </p:nvSpPr>
        <p:spPr>
          <a:xfrm>
            <a:off x="711579" y="2167930"/>
            <a:ext cx="454966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Example Seller Description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980852" y="2793802"/>
            <a:ext cx="4889973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"Single owner, well maintained, regularly serviced."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11579" y="2640310"/>
            <a:ext cx="25399" cy="587077"/>
          </a:xfrm>
          <a:prstGeom prst="roundRect">
            <a:avLst>
              <a:gd name="adj" fmla="val 50001"/>
            </a:avLst>
          </a:prstGeom>
          <a:solidFill>
            <a:srgbClr val="D3C5B6"/>
          </a:solidFill>
          <a:ln/>
        </p:spPr>
      </p:sp>
      <p:sp>
        <p:nvSpPr>
          <p:cNvPr id="7" name="Text 5"/>
          <p:cNvSpPr/>
          <p:nvPr/>
        </p:nvSpPr>
        <p:spPr>
          <a:xfrm>
            <a:off x="711579" y="3419277"/>
            <a:ext cx="4549661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Raw text like this carries rich pricing signals — but ML models cannot read words directly. NLP bridges that gap.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55833" y="2167930"/>
            <a:ext cx="5780637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Useful Signals Extracted by NLP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5755833" y="2618978"/>
            <a:ext cx="5780637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TF-IDF converts seller text into numerical feature vectors that are fused with structured vehicle attributes.</a:t>
            </a:r>
            <a:endParaRPr lang="en-US" sz="14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324846"/>
            <a:ext cx="3509180" cy="13527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67954" y="4529733"/>
            <a:ext cx="299782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Condition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967954" y="4912519"/>
            <a:ext cx="299782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Well maintained → positive quality indicator</a:t>
            </a:r>
            <a:endParaRPr lang="en-US" sz="14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1208" y="4324846"/>
            <a:ext cx="3509180" cy="13527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47687" y="4529733"/>
            <a:ext cx="299782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Ownership</a:t>
            </a:r>
            <a:endParaRPr lang="en-US" sz="1750" dirty="0"/>
          </a:p>
        </p:txBody>
      </p:sp>
      <p:sp>
        <p:nvSpPr>
          <p:cNvPr id="15" name="Text 11"/>
          <p:cNvSpPr/>
          <p:nvPr/>
        </p:nvSpPr>
        <p:spPr>
          <a:xfrm>
            <a:off x="4647687" y="4912519"/>
            <a:ext cx="299782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Single owner → lower depreciation signal</a:t>
            </a:r>
            <a:endParaRPr lang="en-US" sz="14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0941" y="4324846"/>
            <a:ext cx="3509180" cy="13527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7420" y="4529733"/>
            <a:ext cx="299782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Maintenance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8327420" y="4912519"/>
            <a:ext cx="299782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Regularly serviced → higher reliability score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72629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Literature Review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587004"/>
            <a:ext cx="1147833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Academic review covering used-car price prediction using ML, regression-based approaches, NLP/text features, ensemble methods, and feature engineering.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61475" y="1940719"/>
            <a:ext cx="10868745" cy="523081"/>
          </a:xfrm>
          <a:prstGeom prst="roundRect">
            <a:avLst>
              <a:gd name="adj" fmla="val 4336"/>
            </a:avLst>
          </a:prstGeom>
          <a:solidFill>
            <a:srgbClr val="FCF2B5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680" y="2113161"/>
            <a:ext cx="189007" cy="1512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2893" y="2099469"/>
            <a:ext cx="10835706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Reference Status:</a:t>
            </a:r>
            <a:r>
              <a:rPr lang="en-US" sz="11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Placeholders are used because verified references were not provided. Replace with real references before submission.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61475" y="2599829"/>
            <a:ext cx="10868745" cy="3385542"/>
          </a:xfrm>
          <a:prstGeom prst="roundRect">
            <a:avLst>
              <a:gd name="adj" fmla="val 670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61475" y="2984798"/>
            <a:ext cx="10868745" cy="94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61475" y="3584277"/>
            <a:ext cx="10868745" cy="94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61475" y="4183757"/>
            <a:ext cx="10868745" cy="94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61475" y="4783237"/>
            <a:ext cx="10868745" cy="94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661475" y="5382716"/>
            <a:ext cx="10868745" cy="94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668122" y="2606179"/>
            <a:ext cx="1954064" cy="378619"/>
          </a:xfrm>
          <a:custGeom>
            <a:avLst/>
            <a:gdLst/>
            <a:ahLst/>
            <a:cxnLst/>
            <a:rect l="l" t="t" r="r" b="b"/>
            <a:pathLst>
              <a:path w="1954064" h="378619">
                <a:moveTo>
                  <a:pt x="18902" y="0"/>
                </a:moveTo>
                <a:lnTo>
                  <a:pt x="1954064" y="0"/>
                </a:lnTo>
                <a:lnTo>
                  <a:pt x="1954064" y="378619"/>
                </a:lnTo>
                <a:lnTo>
                  <a:pt x="0" y="378619"/>
                </a:lnTo>
                <a:lnTo>
                  <a:pt x="0" y="18902"/>
                </a:lnTo>
                <a:arcTo wR="18902" hR="18902" stAng="10800000" swAng="5400000"/>
                <a:close/>
              </a:path>
            </a:pathLst>
          </a:custGeom>
          <a:solidFill>
            <a:srgbClr val="D3C5B6"/>
          </a:solidFill>
          <a:ln/>
        </p:spPr>
      </p:sp>
      <p:sp>
        <p:nvSpPr>
          <p:cNvPr id="14" name="Text 11"/>
          <p:cNvSpPr/>
          <p:nvPr/>
        </p:nvSpPr>
        <p:spPr>
          <a:xfrm>
            <a:off x="819328" y="2685058"/>
            <a:ext cx="226123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Author / Year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2622187" y="2606179"/>
            <a:ext cx="2388235" cy="378619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6" name="Text 13"/>
          <p:cNvSpPr/>
          <p:nvPr/>
        </p:nvSpPr>
        <p:spPr>
          <a:xfrm>
            <a:off x="2773392" y="2685058"/>
            <a:ext cx="269540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Technique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010422" y="2606179"/>
            <a:ext cx="2171150" cy="378619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8" name="Text 15"/>
          <p:cNvSpPr/>
          <p:nvPr/>
        </p:nvSpPr>
        <p:spPr>
          <a:xfrm>
            <a:off x="5161627" y="2685058"/>
            <a:ext cx="2478323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Features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181571" y="2606179"/>
            <a:ext cx="2388235" cy="378619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20" name="Text 17"/>
          <p:cNvSpPr/>
          <p:nvPr/>
        </p:nvSpPr>
        <p:spPr>
          <a:xfrm>
            <a:off x="7332777" y="2685058"/>
            <a:ext cx="269540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Main Finding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9569806" y="2606179"/>
            <a:ext cx="1954064" cy="378619"/>
          </a:xfrm>
          <a:custGeom>
            <a:avLst/>
            <a:gdLst/>
            <a:ahLst/>
            <a:cxnLst/>
            <a:rect l="l" t="t" r="r" b="b"/>
            <a:pathLst>
              <a:path w="1954064" h="378619">
                <a:moveTo>
                  <a:pt x="0" y="0"/>
                </a:moveTo>
                <a:lnTo>
                  <a:pt x="1935163" y="0"/>
                </a:lnTo>
                <a:arcTo wR="18902" hR="18902" stAng="16200000" swAng="5400000"/>
                <a:lnTo>
                  <a:pt x="1954064" y="378619"/>
                </a:lnTo>
                <a:lnTo>
                  <a:pt x="0" y="378619"/>
                </a:lnTo>
                <a:lnTo>
                  <a:pt x="0" y="0"/>
                </a:lnTo>
                <a:close/>
              </a:path>
            </a:pathLst>
          </a:custGeom>
          <a:solidFill>
            <a:srgbClr val="D3C5B6"/>
          </a:solidFill>
          <a:ln/>
        </p:spPr>
      </p:sp>
      <p:sp>
        <p:nvSpPr>
          <p:cNvPr id="22" name="Text 19"/>
          <p:cNvSpPr/>
          <p:nvPr/>
        </p:nvSpPr>
        <p:spPr>
          <a:xfrm>
            <a:off x="9721011" y="2685058"/>
            <a:ext cx="226123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Limitation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819328" y="3066852"/>
            <a:ext cx="226123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Lessman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2773392" y="3066852"/>
            <a:ext cx="2085824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ML-based used-car price prediction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161627" y="3066852"/>
            <a:ext cx="2478323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[Replace]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7332777" y="3066852"/>
            <a:ext cx="269540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[Replace]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9721011" y="3066852"/>
            <a:ext cx="226123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[Replace]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819328" y="3666331"/>
            <a:ext cx="226123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2773392" y="3666331"/>
            <a:ext cx="2085824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Regression-based price prediction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161627" y="3666331"/>
            <a:ext cx="2478323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[Replace]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7332777" y="3666331"/>
            <a:ext cx="269540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[Replace]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9721011" y="3666331"/>
            <a:ext cx="226123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[Replace]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819328" y="4265811"/>
            <a:ext cx="226123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[Replace]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2773392" y="4265811"/>
            <a:ext cx="2085824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NLP / text features for prediction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5161627" y="4265811"/>
            <a:ext cx="2478323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[Replace]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7332777" y="4265811"/>
            <a:ext cx="269540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[Replace]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9721011" y="4265811"/>
            <a:ext cx="226123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[Replace]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819328" y="4865291"/>
            <a:ext cx="226123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[Replace]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2773392" y="4865291"/>
            <a:ext cx="2085824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Random Forest / ensemble methods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5161627" y="4865291"/>
            <a:ext cx="2478323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[Replace]</a:t>
            </a:r>
            <a:endParaRPr lang="en-US" sz="1150" dirty="0"/>
          </a:p>
        </p:txBody>
      </p:sp>
      <p:sp>
        <p:nvSpPr>
          <p:cNvPr id="41" name="Text 38"/>
          <p:cNvSpPr/>
          <p:nvPr/>
        </p:nvSpPr>
        <p:spPr>
          <a:xfrm>
            <a:off x="7332777" y="4865291"/>
            <a:ext cx="269540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[Replace]</a:t>
            </a:r>
            <a:endParaRPr lang="en-US" sz="1150" dirty="0"/>
          </a:p>
        </p:txBody>
      </p:sp>
      <p:sp>
        <p:nvSpPr>
          <p:cNvPr id="42" name="Text 39"/>
          <p:cNvSpPr/>
          <p:nvPr/>
        </p:nvSpPr>
        <p:spPr>
          <a:xfrm>
            <a:off x="9721011" y="4865291"/>
            <a:ext cx="226123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[Replace]</a:t>
            </a:r>
            <a:endParaRPr lang="en-US" sz="1150" dirty="0"/>
          </a:p>
        </p:txBody>
      </p:sp>
      <p:sp>
        <p:nvSpPr>
          <p:cNvPr id="43" name="Text 40"/>
          <p:cNvSpPr/>
          <p:nvPr/>
        </p:nvSpPr>
        <p:spPr>
          <a:xfrm>
            <a:off x="819328" y="5464770"/>
            <a:ext cx="226123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[Replace]</a:t>
            </a:r>
            <a:endParaRPr lang="en-US" sz="1150" dirty="0"/>
          </a:p>
        </p:txBody>
      </p:sp>
      <p:sp>
        <p:nvSpPr>
          <p:cNvPr id="44" name="Text 41"/>
          <p:cNvSpPr/>
          <p:nvPr/>
        </p:nvSpPr>
        <p:spPr>
          <a:xfrm>
            <a:off x="2773392" y="5464770"/>
            <a:ext cx="2085824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Feature engineering &amp; preprocessing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5161627" y="5464770"/>
            <a:ext cx="2478323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[Replace]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7332777" y="5464770"/>
            <a:ext cx="269540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[Replace]</a:t>
            </a:r>
            <a:endParaRPr lang="en-US" sz="1150" dirty="0"/>
          </a:p>
        </p:txBody>
      </p:sp>
      <p:sp>
        <p:nvSpPr>
          <p:cNvPr id="47" name="Text 44"/>
          <p:cNvSpPr/>
          <p:nvPr/>
        </p:nvSpPr>
        <p:spPr>
          <a:xfrm>
            <a:off x="9721011" y="5464770"/>
            <a:ext cx="226123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[Replace]</a:t>
            </a:r>
            <a:endParaRPr lang="en-US" sz="115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3E3F95D0-F9C3-FD74-0A1D-8BF7C8E0D3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016" y="0"/>
            <a:ext cx="1172796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EE8D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8" y="469106"/>
            <a:ext cx="4439730" cy="5919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887413"/>
            <a:ext cx="6296860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Research Gap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233360" y="1439763"/>
            <a:ext cx="6296860" cy="886718"/>
          </a:xfrm>
          <a:prstGeom prst="roundRect">
            <a:avLst>
              <a:gd name="adj" fmla="val 2238"/>
            </a:avLst>
          </a:prstGeom>
          <a:solidFill>
            <a:srgbClr val="EEE8DD"/>
          </a:solidFill>
          <a:ln/>
        </p:spPr>
      </p:sp>
      <p:sp>
        <p:nvSpPr>
          <p:cNvPr id="6" name="Text 3"/>
          <p:cNvSpPr/>
          <p:nvPr/>
        </p:nvSpPr>
        <p:spPr>
          <a:xfrm>
            <a:off x="5365616" y="1572022"/>
            <a:ext cx="603234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Structured-Only Approaches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365616" y="1834257"/>
            <a:ext cx="6032349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Most existing used-car prediction systems rely exclusively on structured numerical and categorical attributes, leaving text data unused.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233360" y="2419052"/>
            <a:ext cx="6296860" cy="886718"/>
          </a:xfrm>
          <a:prstGeom prst="roundRect">
            <a:avLst>
              <a:gd name="adj" fmla="val 2238"/>
            </a:avLst>
          </a:prstGeom>
          <a:solidFill>
            <a:srgbClr val="EEE8DD"/>
          </a:solidFill>
          <a:ln/>
        </p:spPr>
      </p:sp>
      <p:sp>
        <p:nvSpPr>
          <p:cNvPr id="9" name="Text 6"/>
          <p:cNvSpPr/>
          <p:nvPr/>
        </p:nvSpPr>
        <p:spPr>
          <a:xfrm>
            <a:off x="5365616" y="2551311"/>
            <a:ext cx="603234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Untapped Text Signals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365616" y="2813546"/>
            <a:ext cx="6032349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Seller descriptions contain additional information about condition, ownership history, and maintenance that structured fields do not capture.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233360" y="3398341"/>
            <a:ext cx="6296860" cy="886718"/>
          </a:xfrm>
          <a:prstGeom prst="roundRect">
            <a:avLst>
              <a:gd name="adj" fmla="val 2238"/>
            </a:avLst>
          </a:prstGeom>
          <a:solidFill>
            <a:srgbClr val="EEE8DD"/>
          </a:solidFill>
          <a:ln/>
        </p:spPr>
      </p:sp>
      <p:sp>
        <p:nvSpPr>
          <p:cNvPr id="12" name="Text 9"/>
          <p:cNvSpPr/>
          <p:nvPr/>
        </p:nvSpPr>
        <p:spPr>
          <a:xfrm>
            <a:off x="5365616" y="3530600"/>
            <a:ext cx="603234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NLP Preprocessing Required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365616" y="3792835"/>
            <a:ext cx="6032349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Text information must be cleaned, tokenized, and vectorized before it can be consumed by ML regression models.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233360" y="4377630"/>
            <a:ext cx="6296860" cy="886718"/>
          </a:xfrm>
          <a:prstGeom prst="roundRect">
            <a:avLst>
              <a:gd name="adj" fmla="val 2238"/>
            </a:avLst>
          </a:prstGeom>
          <a:solidFill>
            <a:srgbClr val="EEE8DD"/>
          </a:solidFill>
          <a:ln/>
        </p:spPr>
      </p:sp>
      <p:sp>
        <p:nvSpPr>
          <p:cNvPr id="15" name="Text 12"/>
          <p:cNvSpPr/>
          <p:nvPr/>
        </p:nvSpPr>
        <p:spPr>
          <a:xfrm>
            <a:off x="5365616" y="4509889"/>
            <a:ext cx="603234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Proposed Hybrid Approach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365616" y="4772124"/>
            <a:ext cx="6032349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Combining structured vehicle features with NLP-derived TF-IDF features offers a more comprehensive prediction framework.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233360" y="5368528"/>
            <a:ext cx="6296860" cy="601960"/>
          </a:xfrm>
          <a:prstGeom prst="roundRect">
            <a:avLst>
              <a:gd name="adj" fmla="val 3297"/>
            </a:avLst>
          </a:prstGeom>
          <a:solidFill>
            <a:srgbClr val="ECE6DF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5616" y="5505351"/>
            <a:ext cx="165294" cy="13225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663165" y="5494139"/>
            <a:ext cx="5734800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Positioning:</a:t>
            </a:r>
            <a:r>
              <a:rPr lang="en-US" sz="10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This is the research gap and motivation for the proposed hybrid system — not a proven experimental result.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53281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Dataset Description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661475" y="1713706"/>
            <a:ext cx="2223238" cy="243979"/>
          </a:xfrm>
          <a:prstGeom prst="roundRect">
            <a:avLst>
              <a:gd name="adj" fmla="val 7902"/>
            </a:avLst>
          </a:prstGeom>
          <a:solidFill>
            <a:srgbClr val="ECE6DF"/>
          </a:solidFill>
          <a:ln/>
        </p:spPr>
      </p:sp>
      <p:sp>
        <p:nvSpPr>
          <p:cNvPr id="4" name="Text 2"/>
          <p:cNvSpPr/>
          <p:nvPr/>
        </p:nvSpPr>
        <p:spPr>
          <a:xfrm>
            <a:off x="757814" y="1761827"/>
            <a:ext cx="2640145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CARDEKHO USED-CAR DATASET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1475" y="2012255"/>
            <a:ext cx="580137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Structured Vehicle Features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61475" y="2416870"/>
            <a:ext cx="5801374" cy="1593453"/>
          </a:xfrm>
          <a:prstGeom prst="roundRect">
            <a:avLst>
              <a:gd name="adj" fmla="val 1512"/>
            </a:avLst>
          </a:prstGeom>
          <a:solidFill>
            <a:srgbClr val="EEE8DD"/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2416870"/>
            <a:ext cx="2900687" cy="796727"/>
          </a:xfrm>
          <a:custGeom>
            <a:avLst/>
            <a:gdLst/>
            <a:ahLst/>
            <a:cxnLst/>
            <a:rect l="l" t="t" r="r" b="b"/>
            <a:pathLst>
              <a:path w="2900687" h="796727">
                <a:moveTo>
                  <a:pt x="20083" y="0"/>
                </a:moveTo>
                <a:lnTo>
                  <a:pt x="2900687" y="0"/>
                </a:lnTo>
                <a:lnTo>
                  <a:pt x="2900687" y="796727"/>
                </a:lnTo>
                <a:lnTo>
                  <a:pt x="0" y="796727"/>
                </a:lnTo>
                <a:lnTo>
                  <a:pt x="0" y="20084"/>
                </a:lnTo>
                <a:arcTo wR="20083" hR="20084" stAng="10800000" swAng="5400000"/>
                <a:close/>
              </a:path>
            </a:pathLst>
          </a:custGeom>
          <a:solidFill>
            <a:srgbClr val="EEE8DD"/>
          </a:solidFill>
          <a:ln/>
        </p:spPr>
      </p:sp>
      <p:sp>
        <p:nvSpPr>
          <p:cNvPr id="8" name="Text 6"/>
          <p:cNvSpPr/>
          <p:nvPr/>
        </p:nvSpPr>
        <p:spPr>
          <a:xfrm>
            <a:off x="822106" y="2577505"/>
            <a:ext cx="2579425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Identity:</a:t>
            </a: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car_name · brand · model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562162" y="2416870"/>
            <a:ext cx="2900687" cy="796727"/>
          </a:xfrm>
          <a:custGeom>
            <a:avLst/>
            <a:gdLst/>
            <a:ahLst/>
            <a:cxnLst/>
            <a:rect l="l" t="t" r="r" b="b"/>
            <a:pathLst>
              <a:path w="2900687" h="796727">
                <a:moveTo>
                  <a:pt x="0" y="0"/>
                </a:moveTo>
                <a:lnTo>
                  <a:pt x="2880604" y="0"/>
                </a:lnTo>
                <a:arcTo wR="20083" hR="20084" stAng="16200000" swAng="5400000"/>
                <a:lnTo>
                  <a:pt x="2900687" y="796727"/>
                </a:lnTo>
                <a:lnTo>
                  <a:pt x="0" y="796727"/>
                </a:lnTo>
                <a:lnTo>
                  <a:pt x="0" y="0"/>
                </a:lnTo>
                <a:close/>
              </a:path>
            </a:pathLst>
          </a:custGeom>
          <a:solidFill>
            <a:srgbClr val="EEE8DD"/>
          </a:solidFill>
          <a:ln/>
        </p:spPr>
      </p:sp>
      <p:sp>
        <p:nvSpPr>
          <p:cNvPr id="10" name="Shape 8"/>
          <p:cNvSpPr/>
          <p:nvPr/>
        </p:nvSpPr>
        <p:spPr>
          <a:xfrm>
            <a:off x="3562162" y="2416870"/>
            <a:ext cx="19050" cy="796727"/>
          </a:xfrm>
          <a:prstGeom prst="roundRect">
            <a:avLst>
              <a:gd name="adj" fmla="val 49999"/>
            </a:avLst>
          </a:prstGeom>
          <a:solidFill>
            <a:srgbClr val="D4CEC3"/>
          </a:solidFill>
          <a:ln/>
        </p:spPr>
      </p:sp>
      <p:sp>
        <p:nvSpPr>
          <p:cNvPr id="11" name="Text 9"/>
          <p:cNvSpPr/>
          <p:nvPr/>
        </p:nvSpPr>
        <p:spPr>
          <a:xfrm>
            <a:off x="3722793" y="2577505"/>
            <a:ext cx="2579425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Usage:</a:t>
            </a: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vehicle_age · km_driven · seats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1475" y="3213596"/>
            <a:ext cx="2900687" cy="796727"/>
          </a:xfrm>
          <a:custGeom>
            <a:avLst/>
            <a:gdLst/>
            <a:ahLst/>
            <a:cxnLst/>
            <a:rect l="l" t="t" r="r" b="b"/>
            <a:pathLst>
              <a:path w="2900687" h="796727">
                <a:moveTo>
                  <a:pt x="0" y="0"/>
                </a:moveTo>
                <a:lnTo>
                  <a:pt x="2900687" y="0"/>
                </a:lnTo>
                <a:lnTo>
                  <a:pt x="2900687" y="796727"/>
                </a:lnTo>
                <a:lnTo>
                  <a:pt x="20083" y="796727"/>
                </a:lnTo>
                <a:arcTo wR="20083" hR="20084" stAng="5400000" swAng="5400000"/>
                <a:lnTo>
                  <a:pt x="0" y="0"/>
                </a:lnTo>
                <a:close/>
              </a:path>
            </a:pathLst>
          </a:custGeom>
          <a:solidFill>
            <a:srgbClr val="EEE8DD"/>
          </a:solidFill>
          <a:ln/>
        </p:spPr>
      </p:sp>
      <p:sp>
        <p:nvSpPr>
          <p:cNvPr id="13" name="Shape 11"/>
          <p:cNvSpPr/>
          <p:nvPr/>
        </p:nvSpPr>
        <p:spPr>
          <a:xfrm>
            <a:off x="661475" y="3213596"/>
            <a:ext cx="2900687" cy="19050"/>
          </a:xfrm>
          <a:prstGeom prst="roundRect">
            <a:avLst>
              <a:gd name="adj" fmla="val 49999"/>
            </a:avLst>
          </a:prstGeom>
          <a:solidFill>
            <a:srgbClr val="D4CEC3"/>
          </a:solidFill>
          <a:ln/>
        </p:spPr>
      </p:sp>
      <p:sp>
        <p:nvSpPr>
          <p:cNvPr id="14" name="Text 12"/>
          <p:cNvSpPr/>
          <p:nvPr/>
        </p:nvSpPr>
        <p:spPr>
          <a:xfrm>
            <a:off x="822106" y="3374231"/>
            <a:ext cx="2579425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Specs:</a:t>
            </a: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mileage · engine · max_power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562162" y="3213596"/>
            <a:ext cx="2900687" cy="796727"/>
          </a:xfrm>
          <a:custGeom>
            <a:avLst/>
            <a:gdLst/>
            <a:ahLst/>
            <a:cxnLst/>
            <a:rect l="l" t="t" r="r" b="b"/>
            <a:pathLst>
              <a:path w="2900687" h="796727">
                <a:moveTo>
                  <a:pt x="0" y="0"/>
                </a:moveTo>
                <a:lnTo>
                  <a:pt x="2900687" y="0"/>
                </a:lnTo>
                <a:lnTo>
                  <a:pt x="2900687" y="776643"/>
                </a:lnTo>
                <a:arcTo wR="20083" hR="20084" stAng="0" swAng="5400000"/>
                <a:lnTo>
                  <a:pt x="0" y="796727"/>
                </a:lnTo>
                <a:lnTo>
                  <a:pt x="0" y="0"/>
                </a:lnTo>
                <a:close/>
              </a:path>
            </a:pathLst>
          </a:custGeom>
          <a:solidFill>
            <a:srgbClr val="EEE8DD"/>
          </a:solidFill>
          <a:ln/>
        </p:spPr>
      </p:sp>
      <p:sp>
        <p:nvSpPr>
          <p:cNvPr id="16" name="Shape 14"/>
          <p:cNvSpPr/>
          <p:nvPr/>
        </p:nvSpPr>
        <p:spPr>
          <a:xfrm>
            <a:off x="3562162" y="3213596"/>
            <a:ext cx="19050" cy="796727"/>
          </a:xfrm>
          <a:prstGeom prst="roundRect">
            <a:avLst>
              <a:gd name="adj" fmla="val 49999"/>
            </a:avLst>
          </a:prstGeom>
          <a:solidFill>
            <a:srgbClr val="D4CEC3"/>
          </a:solidFill>
          <a:ln/>
        </p:spPr>
      </p:sp>
      <p:sp>
        <p:nvSpPr>
          <p:cNvPr id="17" name="Shape 15"/>
          <p:cNvSpPr/>
          <p:nvPr/>
        </p:nvSpPr>
        <p:spPr>
          <a:xfrm>
            <a:off x="3562162" y="3213596"/>
            <a:ext cx="2900687" cy="19050"/>
          </a:xfrm>
          <a:prstGeom prst="roundRect">
            <a:avLst>
              <a:gd name="adj" fmla="val 49999"/>
            </a:avLst>
          </a:prstGeom>
          <a:solidFill>
            <a:srgbClr val="D4CEC3"/>
          </a:solidFill>
          <a:ln/>
        </p:spPr>
      </p:sp>
      <p:sp>
        <p:nvSpPr>
          <p:cNvPr id="18" name="Text 16"/>
          <p:cNvSpPr/>
          <p:nvPr/>
        </p:nvSpPr>
        <p:spPr>
          <a:xfrm>
            <a:off x="3722793" y="3374231"/>
            <a:ext cx="2579425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Type:</a:t>
            </a: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seller_type · fuel_type · transmission_type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61475" y="4163913"/>
            <a:ext cx="641095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Text Feature:</a:t>
            </a: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seller_description  |  </a:t>
            </a:r>
            <a:r>
              <a:rPr lang="en-US" sz="12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Target:</a:t>
            </a: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selling_price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61475" y="4555232"/>
            <a:ext cx="5801374" cy="1295797"/>
          </a:xfrm>
          <a:prstGeom prst="roundRect">
            <a:avLst>
              <a:gd name="adj" fmla="val 1860"/>
            </a:avLst>
          </a:prstGeom>
          <a:solidFill>
            <a:srgbClr val="B6D6FC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106" y="4749998"/>
            <a:ext cx="200814" cy="160635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183551" y="4718149"/>
            <a:ext cx="5118666" cy="969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Dataset reduced to </a:t>
            </a:r>
            <a:r>
              <a:rPr lang="en-US" sz="1250" b="1" dirty="0">
                <a:solidFill>
                  <a:srgbClr val="00000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900 records</a:t>
            </a:r>
            <a:r>
              <a:rPr lang="en-US" sz="12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for academic implementation. The </a:t>
            </a:r>
            <a:r>
              <a:rPr lang="en-US" sz="1250" dirty="0">
                <a:solidFill>
                  <a:srgbClr val="000000"/>
                </a:solidFill>
                <a:highlight>
                  <a:srgbClr val="ECE9E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seller_description</a:t>
            </a:r>
            <a:r>
              <a:rPr lang="en-US" sz="12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column is a </a:t>
            </a:r>
            <a:r>
              <a:rPr lang="en-US" sz="1250" b="1" dirty="0">
                <a:solidFill>
                  <a:srgbClr val="00000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synthetic/augmented</a:t>
            </a:r>
            <a:r>
              <a:rPr lang="en-US" sz="12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text component created for the NLP prototype — not original CarDekho seller-written descriptions.</a:t>
            </a:r>
            <a:endParaRPr lang="en-US" sz="125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1733" y="2487513"/>
            <a:ext cx="3974008" cy="25896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1500"/>
            <a:ext cx="1086874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Data Preprocessing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61475" y="2876054"/>
            <a:ext cx="4257568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Preprocessing Pipeline</a:t>
            </a:r>
            <a:endParaRPr lang="en-US" sz="600" dirty="0"/>
          </a:p>
        </p:txBody>
      </p:sp>
      <p:sp>
        <p:nvSpPr>
          <p:cNvPr id="4" name="Shape 2"/>
          <p:cNvSpPr/>
          <p:nvPr/>
        </p:nvSpPr>
        <p:spPr>
          <a:xfrm>
            <a:off x="661475" y="2994422"/>
            <a:ext cx="138208" cy="13821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5" name="Text 3"/>
          <p:cNvSpPr/>
          <p:nvPr/>
        </p:nvSpPr>
        <p:spPr>
          <a:xfrm>
            <a:off x="684493" y="3005931"/>
            <a:ext cx="92073" cy="1150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1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819626" y="3015456"/>
            <a:ext cx="4099418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Dataset Loading &amp; Understanding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661475" y="3172520"/>
            <a:ext cx="138208" cy="13821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8" name="Text 6"/>
          <p:cNvSpPr/>
          <p:nvPr/>
        </p:nvSpPr>
        <p:spPr>
          <a:xfrm>
            <a:off x="684493" y="3184029"/>
            <a:ext cx="92073" cy="1150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2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19626" y="3193554"/>
            <a:ext cx="4099418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Missing Value Check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661475" y="3350617"/>
            <a:ext cx="138208" cy="13821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11" name="Text 9"/>
          <p:cNvSpPr/>
          <p:nvPr/>
        </p:nvSpPr>
        <p:spPr>
          <a:xfrm>
            <a:off x="684493" y="3362127"/>
            <a:ext cx="92073" cy="1150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3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19626" y="3371652"/>
            <a:ext cx="4099418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Remove "Unnamed: 0" Column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661475" y="3528715"/>
            <a:ext cx="138208" cy="13821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14" name="Text 12"/>
          <p:cNvSpPr/>
          <p:nvPr/>
        </p:nvSpPr>
        <p:spPr>
          <a:xfrm>
            <a:off x="684493" y="3540224"/>
            <a:ext cx="92073" cy="1150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4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819626" y="3549749"/>
            <a:ext cx="4099418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Duplicate Check &amp; Handling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661475" y="3706812"/>
            <a:ext cx="138208" cy="13821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17" name="Text 15"/>
          <p:cNvSpPr/>
          <p:nvPr/>
        </p:nvSpPr>
        <p:spPr>
          <a:xfrm>
            <a:off x="684493" y="3718322"/>
            <a:ext cx="92073" cy="1150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5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819626" y="3727847"/>
            <a:ext cx="4099418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Statistical Analysis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661475" y="3884910"/>
            <a:ext cx="138208" cy="13821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20" name="Text 18"/>
          <p:cNvSpPr/>
          <p:nvPr/>
        </p:nvSpPr>
        <p:spPr>
          <a:xfrm>
            <a:off x="684493" y="3896420"/>
            <a:ext cx="92073" cy="1150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6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819626" y="3905945"/>
            <a:ext cx="4099418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Feature &amp; Target Separation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661475" y="4063008"/>
            <a:ext cx="138208" cy="138212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23" name="Text 21"/>
          <p:cNvSpPr/>
          <p:nvPr/>
        </p:nvSpPr>
        <p:spPr>
          <a:xfrm>
            <a:off x="684493" y="4074517"/>
            <a:ext cx="92073" cy="1150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7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819626" y="4084042"/>
            <a:ext cx="4099418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Categorical Encoding &amp; 80:20 Split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5075210" y="813296"/>
            <a:ext cx="6461261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Implementation Evidence</a:t>
            </a:r>
            <a:endParaRPr lang="en-US" sz="60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411" y="571500"/>
            <a:ext cx="3922294" cy="2123474"/>
          </a:xfrm>
          <a:prstGeom prst="rect">
            <a:avLst/>
          </a:prstGeom>
        </p:spPr>
      </p:pic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2998" y="2952055"/>
            <a:ext cx="2760826" cy="3529947"/>
          </a:xfrm>
          <a:prstGeom prst="rect">
            <a:avLst/>
          </a:prstGeom>
        </p:spPr>
      </p:pic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1692" y="2924026"/>
            <a:ext cx="2049339" cy="35118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0445"/>
            <a:ext cx="10868745" cy="420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NLP Preprocessing Pipeline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7589" y="1153120"/>
            <a:ext cx="8416516" cy="31583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8045" y="3422462"/>
            <a:ext cx="1269457" cy="4891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Stop-word Removal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088181" y="3544738"/>
            <a:ext cx="1269458" cy="244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Tokenization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97011" y="3422462"/>
            <a:ext cx="1269457" cy="4891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Remove Punctuation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905842" y="3544738"/>
            <a:ext cx="1269457" cy="244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Lowercase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279892" y="3422462"/>
            <a:ext cx="1269458" cy="4891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Seller Description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61475" y="4515346"/>
            <a:ext cx="5270071" cy="210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Before Processing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3479" y="4920059"/>
            <a:ext cx="5677651" cy="18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"Single owner, well maintained, regularly serviced."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61475" y="4833739"/>
            <a:ext cx="19050" cy="357088"/>
          </a:xfrm>
          <a:prstGeom prst="roundRect">
            <a:avLst>
              <a:gd name="adj" fmla="val 49999"/>
            </a:avLst>
          </a:prstGeom>
          <a:solidFill>
            <a:srgbClr val="D3C5B6"/>
          </a:solidFill>
          <a:ln/>
        </p:spPr>
      </p:sp>
      <p:sp>
        <p:nvSpPr>
          <p:cNvPr id="12" name="Text 9"/>
          <p:cNvSpPr/>
          <p:nvPr/>
        </p:nvSpPr>
        <p:spPr>
          <a:xfrm>
            <a:off x="6266499" y="4515346"/>
            <a:ext cx="5270071" cy="210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After Processing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68504" y="4920059"/>
            <a:ext cx="5677651" cy="18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"single owner well maintained regularly serviced"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266499" y="4833739"/>
            <a:ext cx="19050" cy="357088"/>
          </a:xfrm>
          <a:prstGeom prst="roundRect">
            <a:avLst>
              <a:gd name="adj" fmla="val 49999"/>
            </a:avLst>
          </a:prstGeom>
          <a:solidFill>
            <a:srgbClr val="D3C5B6"/>
          </a:solidFill>
          <a:ln/>
        </p:spPr>
      </p:sp>
      <p:sp>
        <p:nvSpPr>
          <p:cNvPr id="15" name="Text 12"/>
          <p:cNvSpPr/>
          <p:nvPr/>
        </p:nvSpPr>
        <p:spPr>
          <a:xfrm>
            <a:off x="661475" y="5406727"/>
            <a:ext cx="10868745" cy="368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TF-IDF converts the cleaned text into numerical feature vectors weighted by term frequency and inverse document frequency, enabling ML models to leverage seller description signals alongside structured vehicle attributes.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61475" y="5883573"/>
            <a:ext cx="10868745" cy="433983"/>
          </a:xfrm>
          <a:prstGeom prst="roundRect">
            <a:avLst>
              <a:gd name="adj" fmla="val 4655"/>
            </a:avLst>
          </a:prstGeom>
          <a:solidFill>
            <a:srgbClr val="ECE6DF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111" y="6022280"/>
            <a:ext cx="168271" cy="1346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99019" y="6013152"/>
            <a:ext cx="10906150" cy="18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[Leave space for NLP / TF-IDF screenshot when available]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3442"/>
            <a:ext cx="10868745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Hybrid ML Architecture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539974"/>
            <a:ext cx="4368393" cy="43685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32727" y="1246981"/>
            <a:ext cx="4703744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Regression Models</a:t>
            </a:r>
            <a:endParaRPr lang="en-US" sz="13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32727" y="1580852"/>
            <a:ext cx="4703744" cy="121423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079975" y="1678384"/>
            <a:ext cx="20924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991274" y="2121495"/>
            <a:ext cx="4386649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Linear Regression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991274" y="2442468"/>
            <a:ext cx="4386649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Baseline model; interpretable coefficients for each feature.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32727" y="2898080"/>
            <a:ext cx="4703744" cy="121423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79975" y="2995613"/>
            <a:ext cx="20924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6991274" y="3438723"/>
            <a:ext cx="4386649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Decision Tree Regressor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991274" y="3759696"/>
            <a:ext cx="4386649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Captures non-linear relationships; easy to visualize splits.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32727" y="4215309"/>
            <a:ext cx="4703744" cy="121423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079975" y="4312841"/>
            <a:ext cx="20924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991274" y="4755952"/>
            <a:ext cx="4386649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Random Forest Regressor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6991274" y="5076924"/>
            <a:ext cx="4386649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Ensemble of trees; robust to overfitting; expected best performer.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6832727" y="5545435"/>
            <a:ext cx="4703744" cy="643136"/>
          </a:xfrm>
          <a:prstGeom prst="roundRect">
            <a:avLst>
              <a:gd name="adj" fmla="val 3255"/>
            </a:avLst>
          </a:prstGeom>
          <a:solidFill>
            <a:srgbClr val="ECE6DF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2225" y="5694462"/>
            <a:ext cx="174422" cy="13950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286145" y="5672931"/>
            <a:ext cx="4110828" cy="388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Model performance values (MAE, RMSE, R²) will be added after experiments are complete.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90910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Exploratory Data Analysis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866007"/>
            <a:ext cx="10868745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following EDA visualizations will be populated with actual graphs once generated from the dataset. Each plot is designed to reveal key pricing patterns and feature relationships.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495054"/>
            <a:ext cx="401627" cy="4016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3067348"/>
            <a:ext cx="350908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Selling Price Distribution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61475" y="3400227"/>
            <a:ext cx="350908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Histogram showing the spread and skewness of selling prices across all 900 records.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1208" y="2495054"/>
            <a:ext cx="401627" cy="4016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41208" y="3067348"/>
            <a:ext cx="350918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Vehicle Age vs Selling Price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4341208" y="3400227"/>
            <a:ext cx="350918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Scatter plot revealing depreciation trends as vehicle age increases.</a:t>
            </a: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21040" y="2495054"/>
            <a:ext cx="401627" cy="40163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21040" y="3067348"/>
            <a:ext cx="350908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KM Driven vs Selling Price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8021040" y="3400227"/>
            <a:ext cx="350908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Correlation between total kilometers driven and the listed selling price.</a:t>
            </a:r>
            <a:endParaRPr lang="en-US" sz="12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148733"/>
            <a:ext cx="401627" cy="40163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61475" y="4721027"/>
            <a:ext cx="350908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Fuel Type vs Selling Price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661475" y="5053905"/>
            <a:ext cx="350908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Box plot comparing price distributions across Petrol, Diesel, CNG, and Electric categories.</a:t>
            </a:r>
            <a:endParaRPr lang="en-US" sz="12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41208" y="4148733"/>
            <a:ext cx="401627" cy="40163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341208" y="4721027"/>
            <a:ext cx="350918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Correlation Heatmap</a:t>
            </a:r>
            <a:endParaRPr lang="en-US" sz="1550" dirty="0"/>
          </a:p>
        </p:txBody>
      </p:sp>
      <p:sp>
        <p:nvSpPr>
          <p:cNvPr id="18" name="Text 11"/>
          <p:cNvSpPr/>
          <p:nvPr/>
        </p:nvSpPr>
        <p:spPr>
          <a:xfrm>
            <a:off x="4341208" y="5053905"/>
            <a:ext cx="3509180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Feature-to-feature correlation matrix highlighting the strongest predictors of selling price.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842</Words>
  <Application>Microsoft Office PowerPoint</Application>
  <PresentationFormat>Widescreen</PresentationFormat>
  <Paragraphs>149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Gelasio SemiBold</vt:lpstr>
      <vt:lpstr>Arial</vt:lpstr>
      <vt:lpstr>Gelasio</vt:lpstr>
      <vt:lpstr>Gelasio Bold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Mamidi srija reddy</dc:creator>
  <cp:lastModifiedBy>Mamidi Srija reddy</cp:lastModifiedBy>
  <cp:revision>2</cp:revision>
  <dcterms:created xsi:type="dcterms:W3CDTF">2026-08-18T16:43:45Z</dcterms:created>
  <dcterms:modified xsi:type="dcterms:W3CDTF">2026-10-01T04:15:14Z</dcterms:modified>
</cp:coreProperties>
</file>